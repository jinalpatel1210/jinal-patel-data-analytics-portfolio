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9" d="100"/>
          <a:sy n="79" d="100"/>
        </p:scale>
        <p:origin x="8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927FEA-A0E8-466A-9AE0-4011D90A871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964034-A6B7-439A-B9FF-594CA6C4270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63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27FEA-A0E8-466A-9AE0-4011D90A871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124169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927FEA-A0E8-466A-9AE0-4011D90A871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964034-A6B7-439A-B9FF-594CA6C4270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3560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27FEA-A0E8-466A-9AE0-4011D90A8715}"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1302995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927FEA-A0E8-466A-9AE0-4011D90A8715}" type="datetimeFigureOut">
              <a:rPr lang="en-IN" smtClean="0"/>
              <a:t>21-03-2026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463115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927FEA-A0E8-466A-9AE0-4011D90A8715}" type="datetimeFigureOut">
              <a:rPr lang="en-IN" smtClean="0"/>
              <a:t>21-03-2026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2833203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5C927FEA-A0E8-466A-9AE0-4011D90A8715}" type="datetimeFigureOut">
              <a:rPr lang="en-IN" smtClean="0"/>
              <a:t>21-03-2026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289544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C927FEA-A0E8-466A-9AE0-4011D90A8715}" type="datetimeFigureOut">
              <a:rPr lang="en-IN" smtClean="0"/>
              <a:t>21-03-2026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D964034-A6B7-439A-B9FF-594CA6C42701}" type="slidenum">
              <a:rPr lang="en-IN" smtClean="0"/>
              <a:t>‹#›</a:t>
            </a:fld>
            <a:endParaRPr lang="en-IN"/>
          </a:p>
        </p:txBody>
      </p:sp>
    </p:spTree>
    <p:extLst>
      <p:ext uri="{BB962C8B-B14F-4D97-AF65-F5344CB8AC3E}">
        <p14:creationId xmlns:p14="http://schemas.microsoft.com/office/powerpoint/2010/main" val="318723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927FEA-A0E8-466A-9AE0-4011D90A8715}" type="datetimeFigureOut">
              <a:rPr lang="en-IN" smtClean="0"/>
              <a:t>21-03-2026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2004907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27FEA-A0E8-466A-9AE0-4011D90A871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664274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27FEA-A0E8-466A-9AE0-4011D90A8715}" type="datetimeFigureOut">
              <a:rPr lang="en-IN" smtClean="0"/>
              <a:t>21-03-2026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964034-A6B7-439A-B9FF-594CA6C42701}" type="slidenum">
              <a:rPr lang="en-IN" smtClean="0"/>
              <a:t>‹#›</a:t>
            </a:fld>
            <a:endParaRPr lang="en-IN"/>
          </a:p>
        </p:txBody>
      </p:sp>
    </p:spTree>
    <p:extLst>
      <p:ext uri="{BB962C8B-B14F-4D97-AF65-F5344CB8AC3E}">
        <p14:creationId xmlns:p14="http://schemas.microsoft.com/office/powerpoint/2010/main" val="1026631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C927FEA-A0E8-466A-9AE0-4011D90A8715}" type="datetimeFigureOut">
              <a:rPr lang="en-IN" smtClean="0"/>
              <a:t>21-03-2026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D964034-A6B7-439A-B9FF-594CA6C4270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16379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EBCB-949D-DA27-0991-5B1015FDAF64}"/>
              </a:ext>
            </a:extLst>
          </p:cNvPr>
          <p:cNvSpPr>
            <a:spLocks noGrp="1"/>
          </p:cNvSpPr>
          <p:nvPr>
            <p:ph type="ctrTitle"/>
          </p:nvPr>
        </p:nvSpPr>
        <p:spPr>
          <a:xfrm>
            <a:off x="1097280" y="599768"/>
            <a:ext cx="10058400" cy="3725344"/>
          </a:xfrm>
        </p:spPr>
        <p:txBody>
          <a:bodyPr>
            <a:normAutofit/>
          </a:bodyPr>
          <a:lstStyle/>
          <a:p>
            <a:pPr algn="ctr"/>
            <a:r>
              <a:rPr lang="en-US" sz="4800" u="sng" dirty="0">
                <a:solidFill>
                  <a:schemeClr val="accent2"/>
                </a:solidFill>
                <a:latin typeface="Franklin Gothic Heavy" panose="020B0903020102020204" pitchFamily="34" charset="0"/>
              </a:rPr>
              <a:t>Online Retail Data Analysis</a:t>
            </a:r>
            <a:br>
              <a:rPr lang="en-US" sz="4800" u="sng" dirty="0">
                <a:solidFill>
                  <a:schemeClr val="accent2"/>
                </a:solidFill>
                <a:latin typeface="Franklin Gothic Heavy" panose="020B0903020102020204" pitchFamily="34" charset="0"/>
              </a:rPr>
            </a:br>
            <a:br>
              <a:rPr lang="en-US" sz="5400" dirty="0">
                <a:latin typeface="Franklin Gothic Heavy" panose="020B0903020102020204" pitchFamily="34" charset="0"/>
              </a:rPr>
            </a:br>
            <a:r>
              <a:rPr lang="en-US" sz="4800" dirty="0">
                <a:solidFill>
                  <a:schemeClr val="tx1"/>
                </a:solidFill>
                <a:latin typeface="Franklin Gothic Heavy" panose="020B0903020102020204" pitchFamily="34" charset="0"/>
              </a:rPr>
              <a:t>Deep Dive &amp; Dashboard Insights</a:t>
            </a:r>
            <a:br>
              <a:rPr lang="en-US" sz="5400" dirty="0">
                <a:latin typeface="Franklin Gothic Heavy" panose="020B0903020102020204" pitchFamily="34" charset="0"/>
              </a:rPr>
            </a:br>
            <a:endParaRPr lang="en-IN" sz="5400" dirty="0">
              <a:latin typeface="Franklin Gothic Heavy" panose="020B0903020102020204" pitchFamily="34" charset="0"/>
            </a:endParaRPr>
          </a:p>
        </p:txBody>
      </p:sp>
      <p:sp>
        <p:nvSpPr>
          <p:cNvPr id="3" name="Subtitle 2">
            <a:extLst>
              <a:ext uri="{FF2B5EF4-FFF2-40B4-BE49-F238E27FC236}">
                <a16:creationId xmlns:a16="http://schemas.microsoft.com/office/drawing/2014/main" id="{84FCB226-1BC4-A1C3-11F8-EB4CFF19C7F4}"/>
              </a:ext>
            </a:extLst>
          </p:cNvPr>
          <p:cNvSpPr>
            <a:spLocks noGrp="1"/>
          </p:cNvSpPr>
          <p:nvPr>
            <p:ph type="subTitle" idx="1"/>
          </p:nvPr>
        </p:nvSpPr>
        <p:spPr>
          <a:xfrm>
            <a:off x="1100051" y="4591664"/>
            <a:ext cx="10058400" cy="1006955"/>
          </a:xfrm>
        </p:spPr>
        <p:txBody>
          <a:bodyPr/>
          <a:lstStyle/>
          <a:p>
            <a:r>
              <a:rPr lang="en-US" b="1" dirty="0">
                <a:latin typeface="Aptos" panose="020B0004020202020204" pitchFamily="34" charset="0"/>
                <a:ea typeface="Calibri" panose="020F0502020204030204" pitchFamily="34" charset="0"/>
                <a:cs typeface="Calibri" panose="020F0502020204030204" pitchFamily="34" charset="0"/>
              </a:rPr>
              <a:t>By: Jinal Patel</a:t>
            </a:r>
          </a:p>
          <a:p>
            <a:r>
              <a:rPr lang="en-US" b="1" dirty="0">
                <a:latin typeface="Aptos" panose="020B0004020202020204" pitchFamily="34" charset="0"/>
                <a:ea typeface="Calibri" panose="020F0502020204030204" pitchFamily="34" charset="0"/>
                <a:cs typeface="Calibri" panose="020F0502020204030204" pitchFamily="34" charset="0"/>
              </a:rPr>
              <a:t>ApexPlanet Internship</a:t>
            </a:r>
            <a:endParaRPr lang="en-IN" b="1" dirty="0">
              <a:latin typeface="Aptos" panose="020B00040202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7352576"/>
      </p:ext>
    </p:extLst>
  </p:cSld>
  <p:clrMapOvr>
    <a:masterClrMapping/>
  </p:clrMapOvr>
  <mc:AlternateContent xmlns:mc="http://schemas.openxmlformats.org/markup-compatibility/2006">
    <mc:Choice xmlns:p14="http://schemas.microsoft.com/office/powerpoint/2010/main" Requires="p14">
      <p:transition spd="slow" p14:dur="2000" advTm="138231"/>
    </mc:Choice>
    <mc:Fallback>
      <p:transition spd="slow" advTm="1382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2A6E5-3ED6-39D0-F61B-1A75E7718FF8}"/>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B470DFEB-5DD8-105F-F5FE-7C20897BA553}"/>
              </a:ext>
            </a:extLst>
          </p:cNvPr>
          <p:cNvSpPr>
            <a:spLocks noGrp="1"/>
          </p:cNvSpPr>
          <p:nvPr>
            <p:ph idx="1"/>
          </p:nvPr>
        </p:nvSpPr>
        <p:spPr>
          <a:xfrm>
            <a:off x="1097279" y="1845735"/>
            <a:ext cx="9973843" cy="3709492"/>
          </a:xfrm>
        </p:spPr>
        <p:txBody>
          <a:bodyPr>
            <a:normAutofit/>
          </a:bodyPr>
          <a:lstStyle/>
          <a:p>
            <a:endParaRPr lang="en-US" sz="2800" dirty="0"/>
          </a:p>
          <a:p>
            <a:r>
              <a:rPr lang="en-US" sz="2800" dirty="0"/>
              <a:t>• Analyze sales and customer data</a:t>
            </a:r>
            <a:br>
              <a:rPr lang="en-US" sz="2800" dirty="0"/>
            </a:br>
            <a:r>
              <a:rPr lang="en-US" sz="2800" dirty="0"/>
              <a:t>• Identify key business trends</a:t>
            </a:r>
            <a:br>
              <a:rPr lang="en-US" sz="2800" dirty="0"/>
            </a:br>
            <a:r>
              <a:rPr lang="en-US" sz="2800" dirty="0"/>
              <a:t>• Perform deep-dive cohort analysis</a:t>
            </a:r>
            <a:br>
              <a:rPr lang="en-US" sz="2800" dirty="0"/>
            </a:br>
            <a:r>
              <a:rPr lang="en-US" sz="2800" dirty="0"/>
              <a:t>• Build interactive dashboard</a:t>
            </a:r>
            <a:endParaRPr lang="en-IN" sz="2800" dirty="0"/>
          </a:p>
        </p:txBody>
      </p:sp>
    </p:spTree>
    <p:extLst>
      <p:ext uri="{BB962C8B-B14F-4D97-AF65-F5344CB8AC3E}">
        <p14:creationId xmlns:p14="http://schemas.microsoft.com/office/powerpoint/2010/main" val="2436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2DD35-CD37-8F4A-6BCF-BEEED7C2BB5F}"/>
              </a:ext>
            </a:extLst>
          </p:cNvPr>
          <p:cNvSpPr>
            <a:spLocks noGrp="1"/>
          </p:cNvSpPr>
          <p:nvPr>
            <p:ph type="title"/>
          </p:nvPr>
        </p:nvSpPr>
        <p:spPr>
          <a:xfrm>
            <a:off x="1097280" y="707922"/>
            <a:ext cx="10058400" cy="806246"/>
          </a:xfrm>
        </p:spPr>
        <p:txBody>
          <a:bodyPr>
            <a:normAutofit fontScale="90000"/>
          </a:bodyPr>
          <a:lstStyle/>
          <a:p>
            <a:br>
              <a:rPr lang="en-IN" dirty="0"/>
            </a:br>
            <a:br>
              <a:rPr lang="en-IN" dirty="0"/>
            </a:br>
            <a:br>
              <a:rPr lang="en-IN" dirty="0"/>
            </a:br>
            <a:br>
              <a:rPr lang="en-IN" dirty="0"/>
            </a:br>
            <a:br>
              <a:rPr lang="en-IN" dirty="0"/>
            </a:br>
            <a:r>
              <a:rPr lang="en-IN" dirty="0"/>
              <a:t>Dataset: </a:t>
            </a:r>
            <a:r>
              <a:rPr lang="en-US" dirty="0"/>
              <a:t>Online Retail</a:t>
            </a:r>
            <a:endParaRPr lang="en-IN" dirty="0"/>
          </a:p>
        </p:txBody>
      </p:sp>
      <p:sp>
        <p:nvSpPr>
          <p:cNvPr id="3" name="Content Placeholder 2">
            <a:extLst>
              <a:ext uri="{FF2B5EF4-FFF2-40B4-BE49-F238E27FC236}">
                <a16:creationId xmlns:a16="http://schemas.microsoft.com/office/drawing/2014/main" id="{EDA085EF-11F1-5A7E-AB1D-0296FAFA11E3}"/>
              </a:ext>
            </a:extLst>
          </p:cNvPr>
          <p:cNvSpPr>
            <a:spLocks noGrp="1"/>
          </p:cNvSpPr>
          <p:nvPr>
            <p:ph idx="1"/>
          </p:nvPr>
        </p:nvSpPr>
        <p:spPr/>
        <p:txBody>
          <a:bodyPr>
            <a:normAutofit/>
          </a:bodyPr>
          <a:lstStyle/>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5F5EF470-BA1B-0446-1770-B08D55CBC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1845733"/>
            <a:ext cx="10058400" cy="4023359"/>
          </a:xfrm>
          <a:prstGeom prst="rect">
            <a:avLst/>
          </a:prstGeom>
        </p:spPr>
      </p:pic>
    </p:spTree>
    <p:extLst>
      <p:ext uri="{BB962C8B-B14F-4D97-AF65-F5344CB8AC3E}">
        <p14:creationId xmlns:p14="http://schemas.microsoft.com/office/powerpoint/2010/main" val="145732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4773-FEC8-BE93-F09A-DD92FAD1C4F4}"/>
              </a:ext>
            </a:extLst>
          </p:cNvPr>
          <p:cNvSpPr>
            <a:spLocks noGrp="1"/>
          </p:cNvSpPr>
          <p:nvPr>
            <p:ph type="title"/>
          </p:nvPr>
        </p:nvSpPr>
        <p:spPr/>
        <p:txBody>
          <a:bodyPr/>
          <a:lstStyle/>
          <a:p>
            <a:r>
              <a:rPr lang="en-IN" dirty="0"/>
              <a:t>KPIs</a:t>
            </a:r>
          </a:p>
        </p:txBody>
      </p:sp>
      <p:sp>
        <p:nvSpPr>
          <p:cNvPr id="4" name="Rectangle 1">
            <a:extLst>
              <a:ext uri="{FF2B5EF4-FFF2-40B4-BE49-F238E27FC236}">
                <a16:creationId xmlns:a16="http://schemas.microsoft.com/office/drawing/2014/main" id="{B5F70EEC-6D5E-7BD6-4266-B92CFB5CAECB}"/>
              </a:ext>
            </a:extLst>
          </p:cNvPr>
          <p:cNvSpPr>
            <a:spLocks noGrp="1" noChangeArrowheads="1"/>
          </p:cNvSpPr>
          <p:nvPr>
            <p:ph idx="1"/>
          </p:nvPr>
        </p:nvSpPr>
        <p:spPr bwMode="auto">
          <a:xfrm>
            <a:off x="1132676" y="1991093"/>
            <a:ext cx="10058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Revenue:</a:t>
            </a:r>
            <a:r>
              <a:rPr kumimoji="0" lang="en-US" altLang="en-US" sz="1800" b="0" i="0" u="none" strike="noStrike" cap="none" normalizeH="0" baseline="0" dirty="0">
                <a:ln>
                  <a:noFill/>
                </a:ln>
                <a:solidFill>
                  <a:schemeClr val="tx1"/>
                </a:solidFill>
                <a:effectLst/>
                <a:latin typeface="Arial" panose="020B0604020202020204" pitchFamily="34" charset="0"/>
              </a:rPr>
              <a:t> 137.08K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Orders:</a:t>
            </a:r>
            <a:r>
              <a:rPr kumimoji="0" lang="en-US" altLang="en-US" sz="1800" b="0" i="0" u="none" strike="noStrike" cap="none" normalizeH="0" baseline="0" dirty="0">
                <a:ln>
                  <a:noFill/>
                </a:ln>
                <a:solidFill>
                  <a:schemeClr val="tx1"/>
                </a:solidFill>
                <a:effectLst/>
                <a:latin typeface="Arial" panose="020B0604020202020204" pitchFamily="34" charset="0"/>
              </a:rPr>
              <a:t> 69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Customers:</a:t>
            </a:r>
            <a:r>
              <a:rPr kumimoji="0" lang="en-US" altLang="en-US" sz="1800" b="0" i="0" u="none" strike="noStrike" cap="none" normalizeH="0" baseline="0" dirty="0">
                <a:ln>
                  <a:noFill/>
                </a:ln>
                <a:solidFill>
                  <a:schemeClr val="tx1"/>
                </a:solidFill>
                <a:effectLst/>
                <a:latin typeface="Arial" panose="020B0604020202020204" pitchFamily="34" charset="0"/>
              </a:rPr>
              <a:t> 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Average Order Value (AOV):</a:t>
            </a:r>
            <a:r>
              <a:rPr kumimoji="0" lang="en-US" altLang="en-US" sz="1800" b="0" i="0" u="none" strike="noStrike" cap="none" normalizeH="0" baseline="0" dirty="0">
                <a:ln>
                  <a:noFill/>
                </a:ln>
                <a:solidFill>
                  <a:schemeClr val="tx1"/>
                </a:solidFill>
                <a:effectLst/>
                <a:latin typeface="Arial" panose="020B0604020202020204" pitchFamily="34" charset="0"/>
              </a:rPr>
              <a:t> 1.99K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1F7FC1C1-490B-F3D0-12BD-09DB48D7A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676" y="3428999"/>
            <a:ext cx="9926648" cy="2255413"/>
          </a:xfrm>
          <a:prstGeom prst="rect">
            <a:avLst/>
          </a:prstGeom>
        </p:spPr>
      </p:pic>
    </p:spTree>
    <p:extLst>
      <p:ext uri="{BB962C8B-B14F-4D97-AF65-F5344CB8AC3E}">
        <p14:creationId xmlns:p14="http://schemas.microsoft.com/office/powerpoint/2010/main" val="2683253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17006-F1FC-2323-1C4F-412EB6C28954}"/>
              </a:ext>
            </a:extLst>
          </p:cNvPr>
          <p:cNvSpPr>
            <a:spLocks noGrp="1"/>
          </p:cNvSpPr>
          <p:nvPr>
            <p:ph type="title"/>
          </p:nvPr>
        </p:nvSpPr>
        <p:spPr/>
        <p:txBody>
          <a:bodyPr/>
          <a:lstStyle/>
          <a:p>
            <a:r>
              <a:rPr lang="en-IN" dirty="0"/>
              <a:t>Revenue Trend</a:t>
            </a:r>
          </a:p>
        </p:txBody>
      </p:sp>
      <p:sp>
        <p:nvSpPr>
          <p:cNvPr id="3" name="Content Placeholder 2">
            <a:extLst>
              <a:ext uri="{FF2B5EF4-FFF2-40B4-BE49-F238E27FC236}">
                <a16:creationId xmlns:a16="http://schemas.microsoft.com/office/drawing/2014/main" id="{744FB90E-C8B2-B367-928D-99492CA67EDF}"/>
              </a:ext>
            </a:extLst>
          </p:cNvPr>
          <p:cNvSpPr>
            <a:spLocks noGrp="1"/>
          </p:cNvSpPr>
          <p:nvPr>
            <p:ph idx="1"/>
          </p:nvPr>
        </p:nvSpPr>
        <p:spPr/>
        <p:txBody>
          <a:bodyPr/>
          <a:lstStyle/>
          <a:p>
            <a:endParaRPr lang="en-US" dirty="0"/>
          </a:p>
          <a:p>
            <a:endParaRPr lang="en-IN" dirty="0"/>
          </a:p>
        </p:txBody>
      </p:sp>
      <p:sp>
        <p:nvSpPr>
          <p:cNvPr id="6" name="Rectangle 3">
            <a:extLst>
              <a:ext uri="{FF2B5EF4-FFF2-40B4-BE49-F238E27FC236}">
                <a16:creationId xmlns:a16="http://schemas.microsoft.com/office/drawing/2014/main" id="{F6FE4DFE-035D-171A-1323-DC5B519B4B4A}"/>
              </a:ext>
            </a:extLst>
          </p:cNvPr>
          <p:cNvSpPr>
            <a:spLocks noChangeArrowheads="1"/>
          </p:cNvSpPr>
          <p:nvPr/>
        </p:nvSpPr>
        <p:spPr bwMode="auto">
          <a:xfrm>
            <a:off x="1189704" y="1737360"/>
            <a:ext cx="996597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Revenue shows an increasing trend from Jan 2010 to Jan 2011 (line chart).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Observation:</a:t>
            </a:r>
            <a:r>
              <a:rPr kumimoji="0" lang="en-US" altLang="en-US" sz="1800" b="0" i="0" u="none" strike="noStrike" cap="none" normalizeH="0" baseline="0" dirty="0">
                <a:ln>
                  <a:noFill/>
                </a:ln>
                <a:solidFill>
                  <a:schemeClr val="tx1"/>
                </a:solidFill>
                <a:effectLst/>
                <a:latin typeface="Arial" panose="020B0604020202020204" pitchFamily="34" charset="0"/>
              </a:rPr>
              <a:t> Growth is steady, indicating consistent sales increase over the year.</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8" name="Picture 7">
            <a:extLst>
              <a:ext uri="{FF2B5EF4-FFF2-40B4-BE49-F238E27FC236}">
                <a16:creationId xmlns:a16="http://schemas.microsoft.com/office/drawing/2014/main" id="{4B355212-8197-9B1D-E680-3F916F3AC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6813" y="3168521"/>
            <a:ext cx="3918156" cy="2700573"/>
          </a:xfrm>
          <a:prstGeom prst="rect">
            <a:avLst/>
          </a:prstGeom>
        </p:spPr>
      </p:pic>
    </p:spTree>
    <p:extLst>
      <p:ext uri="{BB962C8B-B14F-4D97-AF65-F5344CB8AC3E}">
        <p14:creationId xmlns:p14="http://schemas.microsoft.com/office/powerpoint/2010/main" val="2512218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F0E98-0FCF-78A8-5F12-E38C9228A995}"/>
              </a:ext>
            </a:extLst>
          </p:cNvPr>
          <p:cNvSpPr>
            <a:spLocks noGrp="1"/>
          </p:cNvSpPr>
          <p:nvPr>
            <p:ph type="title"/>
          </p:nvPr>
        </p:nvSpPr>
        <p:spPr/>
        <p:txBody>
          <a:bodyPr/>
          <a:lstStyle/>
          <a:p>
            <a:r>
              <a:rPr lang="en-IN" dirty="0"/>
              <a:t>Country Analysis</a:t>
            </a:r>
          </a:p>
        </p:txBody>
      </p:sp>
      <p:sp>
        <p:nvSpPr>
          <p:cNvPr id="4" name="Rectangle 1">
            <a:extLst>
              <a:ext uri="{FF2B5EF4-FFF2-40B4-BE49-F238E27FC236}">
                <a16:creationId xmlns:a16="http://schemas.microsoft.com/office/drawing/2014/main" id="{ABD9A101-2A56-9E71-4624-D4C5821475AD}"/>
              </a:ext>
            </a:extLst>
          </p:cNvPr>
          <p:cNvSpPr>
            <a:spLocks noGrp="1" noChangeArrowheads="1"/>
          </p:cNvSpPr>
          <p:nvPr>
            <p:ph idx="1"/>
          </p:nvPr>
        </p:nvSpPr>
        <p:spPr bwMode="auto">
          <a:xfrm>
            <a:off x="1205435" y="1737360"/>
            <a:ext cx="729946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Australia contributes the highest revenue (bar chart).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Other countries have negligible contributions in this dataset. </a:t>
            </a:r>
          </a:p>
        </p:txBody>
      </p:sp>
      <p:pic>
        <p:nvPicPr>
          <p:cNvPr id="6" name="Picture 5">
            <a:extLst>
              <a:ext uri="{FF2B5EF4-FFF2-40B4-BE49-F238E27FC236}">
                <a16:creationId xmlns:a16="http://schemas.microsoft.com/office/drawing/2014/main" id="{F7B2BC93-F0EA-4419-AB2B-55F6351302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6922" y="3016046"/>
            <a:ext cx="3309052" cy="2362530"/>
          </a:xfrm>
          <a:prstGeom prst="rect">
            <a:avLst/>
          </a:prstGeom>
        </p:spPr>
      </p:pic>
    </p:spTree>
    <p:extLst>
      <p:ext uri="{BB962C8B-B14F-4D97-AF65-F5344CB8AC3E}">
        <p14:creationId xmlns:p14="http://schemas.microsoft.com/office/powerpoint/2010/main" val="2964148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CC5A-CB37-9C14-8908-0FFA3AE09B85}"/>
              </a:ext>
            </a:extLst>
          </p:cNvPr>
          <p:cNvSpPr>
            <a:spLocks noGrp="1"/>
          </p:cNvSpPr>
          <p:nvPr>
            <p:ph type="title"/>
          </p:nvPr>
        </p:nvSpPr>
        <p:spPr/>
        <p:txBody>
          <a:bodyPr/>
          <a:lstStyle/>
          <a:p>
            <a:r>
              <a:rPr lang="en-IN" dirty="0"/>
              <a:t>Cohort Analysis</a:t>
            </a:r>
          </a:p>
        </p:txBody>
      </p:sp>
      <p:sp>
        <p:nvSpPr>
          <p:cNvPr id="4" name="Rectangle 1">
            <a:extLst>
              <a:ext uri="{FF2B5EF4-FFF2-40B4-BE49-F238E27FC236}">
                <a16:creationId xmlns:a16="http://schemas.microsoft.com/office/drawing/2014/main" id="{65DCD6A0-76B2-99D0-5812-5F70337416AB}"/>
              </a:ext>
            </a:extLst>
          </p:cNvPr>
          <p:cNvSpPr>
            <a:spLocks noGrp="1" noChangeArrowheads="1"/>
          </p:cNvSpPr>
          <p:nvPr>
            <p:ph idx="1"/>
          </p:nvPr>
        </p:nvSpPr>
        <p:spPr bwMode="auto">
          <a:xfrm>
            <a:off x="1175938" y="1737360"/>
            <a:ext cx="731913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Customer retention decreases over time (heatmap).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Highest revenue/retention observed in January cohort.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Later months show lower engagement and revenue per customer. </a:t>
            </a:r>
          </a:p>
        </p:txBody>
      </p:sp>
      <p:pic>
        <p:nvPicPr>
          <p:cNvPr id="6" name="Picture 5">
            <a:extLst>
              <a:ext uri="{FF2B5EF4-FFF2-40B4-BE49-F238E27FC236}">
                <a16:creationId xmlns:a16="http://schemas.microsoft.com/office/drawing/2014/main" id="{5E4D4BA3-4F14-D738-8E18-D07C17EA06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2231" y="3188117"/>
            <a:ext cx="3893575" cy="2539181"/>
          </a:xfrm>
          <a:prstGeom prst="rect">
            <a:avLst/>
          </a:prstGeom>
        </p:spPr>
      </p:pic>
    </p:spTree>
    <p:extLst>
      <p:ext uri="{BB962C8B-B14F-4D97-AF65-F5344CB8AC3E}">
        <p14:creationId xmlns:p14="http://schemas.microsoft.com/office/powerpoint/2010/main" val="482715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82F41-29C6-6EF7-35B3-36510D1CB7E6}"/>
              </a:ext>
            </a:extLst>
          </p:cNvPr>
          <p:cNvSpPr>
            <a:spLocks noGrp="1"/>
          </p:cNvSpPr>
          <p:nvPr>
            <p:ph type="title"/>
          </p:nvPr>
        </p:nvSpPr>
        <p:spPr/>
        <p:txBody>
          <a:bodyPr/>
          <a:lstStyle/>
          <a:p>
            <a:r>
              <a:rPr lang="en-IN" dirty="0"/>
              <a:t>Insights</a:t>
            </a:r>
          </a:p>
        </p:txBody>
      </p:sp>
      <p:sp>
        <p:nvSpPr>
          <p:cNvPr id="3" name="Content Placeholder 2">
            <a:extLst>
              <a:ext uri="{FF2B5EF4-FFF2-40B4-BE49-F238E27FC236}">
                <a16:creationId xmlns:a16="http://schemas.microsoft.com/office/drawing/2014/main" id="{F3A079BF-08F3-D79F-8F50-87017BC16A64}"/>
              </a:ext>
            </a:extLst>
          </p:cNvPr>
          <p:cNvSpPr>
            <a:spLocks noGrp="1"/>
          </p:cNvSpPr>
          <p:nvPr>
            <p:ph idx="1"/>
          </p:nvPr>
        </p:nvSpPr>
        <p:spPr>
          <a:xfrm>
            <a:off x="1097280" y="2231922"/>
            <a:ext cx="10058400" cy="3637171"/>
          </a:xfrm>
        </p:spPr>
        <p:txBody>
          <a:bodyPr>
            <a:normAutofit/>
          </a:bodyPr>
          <a:lstStyle/>
          <a:p>
            <a:r>
              <a:rPr lang="en-US" sz="2800" dirty="0"/>
              <a:t>• Revenue increasing trend</a:t>
            </a:r>
          </a:p>
          <a:p>
            <a:r>
              <a:rPr lang="en-US" sz="2800" dirty="0"/>
              <a:t>• High contribution from UK</a:t>
            </a:r>
          </a:p>
          <a:p>
            <a:r>
              <a:rPr lang="en-US" sz="2800" dirty="0"/>
              <a:t>• Drop in retention after first month</a:t>
            </a:r>
            <a:endParaRPr lang="en-IN" sz="2800" dirty="0"/>
          </a:p>
        </p:txBody>
      </p:sp>
    </p:spTree>
    <p:extLst>
      <p:ext uri="{BB962C8B-B14F-4D97-AF65-F5344CB8AC3E}">
        <p14:creationId xmlns:p14="http://schemas.microsoft.com/office/powerpoint/2010/main" val="2102007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F23D8-F2C3-8D3B-7932-B3192C48D261}"/>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143665FD-4193-C8A9-1B64-4E8EA3338436}"/>
              </a:ext>
            </a:extLst>
          </p:cNvPr>
          <p:cNvSpPr>
            <a:spLocks noGrp="1"/>
          </p:cNvSpPr>
          <p:nvPr>
            <p:ph idx="1"/>
          </p:nvPr>
        </p:nvSpPr>
        <p:spPr>
          <a:xfrm>
            <a:off x="1097280" y="2202426"/>
            <a:ext cx="10058400" cy="3666668"/>
          </a:xfrm>
        </p:spPr>
        <p:txBody>
          <a:bodyPr>
            <a:normAutofit/>
          </a:bodyPr>
          <a:lstStyle/>
          <a:p>
            <a:r>
              <a:rPr lang="en-US" sz="2800" dirty="0"/>
              <a:t>• Improve retention strategies</a:t>
            </a:r>
          </a:p>
          <a:p>
            <a:r>
              <a:rPr lang="en-US" sz="2800" dirty="0"/>
              <a:t>• Focus on repeat customers</a:t>
            </a:r>
          </a:p>
          <a:p>
            <a:r>
              <a:rPr lang="en-US" sz="2800" dirty="0"/>
              <a:t>• Target high-performing regions</a:t>
            </a:r>
            <a:endParaRPr lang="en-IN" sz="2800" dirty="0"/>
          </a:p>
        </p:txBody>
      </p:sp>
    </p:spTree>
    <p:extLst>
      <p:ext uri="{BB962C8B-B14F-4D97-AF65-F5344CB8AC3E}">
        <p14:creationId xmlns:p14="http://schemas.microsoft.com/office/powerpoint/2010/main" val="3004173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AA660-3C91-5D22-D552-660AEACDFA1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C61E160-EB0E-997E-6CFB-2D0E2E906251}"/>
              </a:ext>
            </a:extLst>
          </p:cNvPr>
          <p:cNvSpPr>
            <a:spLocks noGrp="1"/>
          </p:cNvSpPr>
          <p:nvPr>
            <p:ph idx="1"/>
          </p:nvPr>
        </p:nvSpPr>
        <p:spPr>
          <a:xfrm>
            <a:off x="1097280" y="2143432"/>
            <a:ext cx="10058400" cy="3725662"/>
          </a:xfrm>
        </p:spPr>
        <p:txBody>
          <a:bodyPr/>
          <a:lstStyle/>
          <a:p>
            <a:pPr algn="just"/>
            <a:r>
              <a:rPr lang="en-US" dirty="0"/>
              <a:t>Data analytics helps drive business decisions and improve performance. Analyzing the Online Retail dataset shows how data analytics drives smarter business decisions and improves performance. By turning raw sales and customer data into a clear narrative, we identified top products, seasonal trends, and valuable customer segments, enabling targeted actions like personalized promotions and optimized inventory. Hypothesis testing validated key insights such as the impact of marketing campaigns on conversions—adding statistical confidence to our recommendations. Combining data storytelling with statistical validation ensures decisions are both actionable and evidence-based, helping the business grow efficiently and strategically.</a:t>
            </a:r>
            <a:endParaRPr lang="en-IN" dirty="0"/>
          </a:p>
        </p:txBody>
      </p:sp>
    </p:spTree>
    <p:extLst>
      <p:ext uri="{BB962C8B-B14F-4D97-AF65-F5344CB8AC3E}">
        <p14:creationId xmlns:p14="http://schemas.microsoft.com/office/powerpoint/2010/main" val="362072514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144</TotalTime>
  <Words>290</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Franklin Gothic Heavy</vt:lpstr>
      <vt:lpstr>Retrospect</vt:lpstr>
      <vt:lpstr>Online Retail Data Analysis  Deep Dive &amp; Dashboard Insights </vt:lpstr>
      <vt:lpstr>Objective</vt:lpstr>
      <vt:lpstr>     Dataset: Online Retail</vt:lpstr>
      <vt:lpstr>KPIs</vt:lpstr>
      <vt:lpstr>Revenue Trend</vt:lpstr>
      <vt:lpstr>Country Analysis</vt:lpstr>
      <vt:lpstr>Cohort Analysis</vt:lpstr>
      <vt:lpstr>Insights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jinal patel</dc:creator>
  <cp:lastModifiedBy>jinal patel</cp:lastModifiedBy>
  <cp:revision>3</cp:revision>
  <dcterms:created xsi:type="dcterms:W3CDTF">2026-03-19T17:47:28Z</dcterms:created>
  <dcterms:modified xsi:type="dcterms:W3CDTF">2026-03-21T14:55:54Z</dcterms:modified>
</cp:coreProperties>
</file>